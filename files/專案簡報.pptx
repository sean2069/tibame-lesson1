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5486400" cy="5486400"/>
          </a:xfrm>
          <a:gradFill flip="none" rotWithShape="1">
            <a:gsLst>
              <a:gs pos="0">
                <a:srgbClr val="7C3AED">
                  <a:alpha val="35000"/>
                </a:srgbClr>
              </a:gs>
              <a:gs pos="100000">
                <a:srgbClr val="7C3AED">
                  <a:alpha val="0"/>
                </a:srgbClr>
              </a:gs>
            </a:gsLst>
            <a:lin ang="81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4114800"/>
            <a:ext cx="5943600" cy="5943600"/>
          </a:xfrm>
          <a:gradFill flip="none" rotWithShape="1">
            <a:gsLst>
              <a:gs pos="0">
                <a:srgbClr val="00D4FF">
                  <a:alpha val="30000"/>
                </a:srgbClr>
              </a:gs>
              <a:gs pos="100000">
                <a:srgbClr val="00D4FF">
                  <a:alpha val="0"/>
                </a:srgbClr>
              </a:gs>
            </a:gsLst>
            <a:lin ang="189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18288"/>
          </a:xfrm>
          <a:gradFill flip="none" rotWithShape="1">
            <a:gsLst>
              <a:gs pos="0">
                <a:srgbClr val="00D4FF">
                  <a:alpha val="0"/>
                </a:srgbClr>
              </a:gs>
              <a:gs pos="50000">
                <a:srgbClr val="00D4FF">
                  <a:alpha val="60000"/>
                </a:srgbClr>
              </a:gs>
              <a:gs pos="100000">
                <a:srgbClr val="7C3AED">
                  <a:alpha val="0"/>
                </a:srgbClr>
              </a:gs>
            </a:gsLst>
            <a:lin ang="0" scaled="0"/>
            <a:tileRect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0" y="-914400"/>
            <a:ext cx="8229600" cy="8229600"/>
          </a:xfrm>
          <a:gradFill flip="none" rotWithShape="1">
            <a:gsLst>
              <a:gs pos="0">
                <a:srgbClr val="7C3AED">
                  <a:alpha val="25000"/>
                </a:srgbClr>
              </a:gs>
              <a:gs pos="60000">
                <a:srgbClr val="00D4FF">
                  <a:alpha val="12000"/>
                </a:srgbClr>
              </a:gs>
              <a:gs pos="100000">
                <a:srgbClr val="0A0E27">
                  <a:alpha val="0"/>
                </a:srgbClr>
              </a:gs>
            </a:gsLst>
            <a:lin ang="27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5029200"/>
            <a:ext cx="2743200" cy="2743200"/>
          </a:xfrm>
          <a:gradFill flip="none" rotWithShape="1">
            <a:gsLst>
              <a:gs pos="0">
                <a:srgbClr val="FF6B9D">
                  <a:alpha val="35000"/>
                </a:srgbClr>
              </a:gs>
              <a:gs pos="100000">
                <a:srgbClr val="FF6B9D">
                  <a:alpha val="0"/>
                </a:srgbClr>
              </a:gs>
            </a:gsLst>
            <a:lin ang="54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548640"/>
            <a:ext cx="164592" cy="164592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02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400">
                <a:solidFill>
                  <a:srgbClr val="FFFFFF"/>
                </a:solidFill>
                <a:latin typeface="Inter"/>
                <a:ea typeface="Inter"/>
                <a:cs typeface="Inter"/>
              </a:rPr>
              <a:t>SHAREBOX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600">
                <a:solidFill>
                  <a:srgbClr val="00D4FF"/>
                </a:solidFill>
                <a:latin typeface="Inter"/>
                <a:ea typeface="Inter"/>
                <a:cs typeface="Inter"/>
              </a:rPr>
              <a:t>COMMUNITY · SHARING · TRUST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9144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>
                <a:latin typeface="PingFang TC"/>
                <a:ea typeface="PingFang TC"/>
                <a:cs typeface="PingFang TC"/>
                <a:gradFill>
                  <a:gsLst>
                    <a:gs pos="0">
                      <a:srgbClr val="00D4FF"/>
                    </a:gs>
                    <a:gs pos="60000">
                      <a:srgbClr val="B19CFF"/>
                    </a:gs>
                    <a:gs pos="100000">
                      <a:srgbClr val="FF6B9D"/>
                    </a:gs>
                  </a:gsLst>
                  <a:lin ang="900000" scaled="0"/>
                </a:gradFill>
              </a:rPr>
              <a:t>ShareBox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2336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社區共享工具平台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8006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讓鄰居的閒置工具動起來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5623560"/>
            <a:ext cx="2286000" cy="36576"/>
          </a:xfrm>
          <a:gradFill flip="none" rotWithShape="1">
            <a:gsLst>
              <a:gs pos="0">
                <a:srgbClr val="00D4FF">
                  <a:alpha val="100000"/>
                </a:srgbClr>
              </a:gs>
              <a:gs pos="100000">
                <a:srgbClr val="7C3AED">
                  <a:alpha val="0"/>
                </a:srgbClr>
              </a:gs>
            </a:gsLst>
            <a:lin ang="0" scaled="0"/>
            <a:tileRect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943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spc="200">
                <a:solidFill>
                  <a:srgbClr val="7B86A8"/>
                </a:solidFill>
                <a:latin typeface="Inter"/>
                <a:ea typeface="Inter"/>
                <a:cs typeface="Inter"/>
              </a:rPr>
              <a:t>專案簡報 · 2026 年 1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5486400" cy="5486400"/>
          </a:xfrm>
          <a:gradFill flip="none" rotWithShape="1">
            <a:gsLst>
              <a:gs pos="0">
                <a:srgbClr val="7C3AED">
                  <a:alpha val="35000"/>
                </a:srgbClr>
              </a:gs>
              <a:gs pos="100000">
                <a:srgbClr val="7C3AED">
                  <a:alpha val="0"/>
                </a:srgbClr>
              </a:gs>
            </a:gsLst>
            <a:lin ang="81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4114800"/>
            <a:ext cx="5943600" cy="5943600"/>
          </a:xfrm>
          <a:gradFill flip="none" rotWithShape="1">
            <a:gsLst>
              <a:gs pos="0">
                <a:srgbClr val="00D4FF">
                  <a:alpha val="30000"/>
                </a:srgbClr>
              </a:gs>
              <a:gs pos="100000">
                <a:srgbClr val="00D4FF">
                  <a:alpha val="0"/>
                </a:srgbClr>
              </a:gs>
            </a:gsLst>
            <a:lin ang="189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18288"/>
          </a:xfrm>
          <a:gradFill flip="none" rotWithShape="1">
            <a:gsLst>
              <a:gs pos="0">
                <a:srgbClr val="00D4FF">
                  <a:alpha val="0"/>
                </a:srgbClr>
              </a:gs>
              <a:gs pos="50000">
                <a:srgbClr val="00D4FF">
                  <a:alpha val="60000"/>
                </a:srgbClr>
              </a:gs>
              <a:gs pos="100000">
                <a:srgbClr val="7C3AED">
                  <a:alpha val="0"/>
                </a:srgbClr>
              </a:gs>
            </a:gsLst>
            <a:lin ang="0" scaled="0"/>
            <a:tileRect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B86A8"/>
                </a:solidFill>
                <a:latin typeface="Inter"/>
                <a:ea typeface="Inter"/>
                <a:cs typeface="Inter"/>
              </a:rPr>
              <a:t>02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300">
                <a:solidFill>
                  <a:srgbClr val="7B86A8"/>
                </a:solidFill>
                <a:latin typeface="Inter"/>
                <a:ea typeface="Inter"/>
                <a:cs typeface="Inter"/>
              </a:rPr>
              <a:t>SHAREBOX · 專案簡報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400">
                <a:solidFill>
                  <a:srgbClr val="00D4FF"/>
                </a:solidFill>
                <a:latin typeface="Inter"/>
                <a:ea typeface="Inter"/>
                <a:cs typeface="Inter"/>
              </a:rPr>
              <a:t>01 ·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我們要解決的問題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03120"/>
            <a:ext cx="5212080" cy="2148840"/>
          </a:xfrm>
          <a:prstGeom prst="roundRect">
            <a:avLst>
              <a:gd name="adj" fmla="val 8000"/>
            </a:avLst>
          </a:prstGeom>
          <a:solidFill>
            <a:srgbClr val="14193D"/>
          </a:solidFill>
          <a:ln w="9525">
            <a:solidFill>
              <a:srgbClr val="2A325C"/>
            </a:solidFill>
          </a:ln>
          <a:effectLst>
            <a:outerShdw blurRad="304800" dist="1016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2331720"/>
            <a:ext cx="54864" cy="4572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774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00D4FF"/>
                </a:solidFill>
                <a:latin typeface="PingFang TC"/>
                <a:ea typeface="PingFang TC"/>
                <a:cs typeface="PingFang TC"/>
              </a:rPr>
              <a:t>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3774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300">
                <a:solidFill>
                  <a:srgbClr val="4F5A7A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6324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閒置率高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2044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家用工具買了卻很少用 ——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一年常使用不到 3 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103120"/>
            <a:ext cx="5212080" cy="2148840"/>
          </a:xfrm>
          <a:prstGeom prst="roundRect">
            <a:avLst>
              <a:gd name="adj" fmla="val 8000"/>
            </a:avLst>
          </a:prstGeom>
          <a:solidFill>
            <a:srgbClr val="14193D"/>
          </a:solidFill>
          <a:ln w="9525">
            <a:solidFill>
              <a:srgbClr val="2A325C"/>
            </a:solidFill>
          </a:ln>
          <a:effectLst>
            <a:outerShdw blurRad="304800" dist="1016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99632" y="2331720"/>
            <a:ext cx="54864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3774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7C3AED"/>
                </a:solidFill>
                <a:latin typeface="PingFang TC"/>
                <a:ea typeface="PingFang TC"/>
                <a:cs typeface="PingFang TC"/>
              </a:rPr>
              <a:t>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23774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300">
                <a:solidFill>
                  <a:srgbClr val="4F5A7A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06324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空間浪費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2044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工具佔據居家收納空間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造成資源閒置與浪費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26280"/>
            <a:ext cx="5212080" cy="2148840"/>
          </a:xfrm>
          <a:prstGeom prst="roundRect">
            <a:avLst>
              <a:gd name="adj" fmla="val 8000"/>
            </a:avLst>
          </a:prstGeom>
          <a:solidFill>
            <a:srgbClr val="14193D"/>
          </a:solidFill>
          <a:ln w="9525">
            <a:solidFill>
              <a:srgbClr val="2A325C"/>
            </a:solidFill>
          </a:ln>
          <a:effectLst>
            <a:outerShdw blurRad="304800" dist="1016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754880"/>
            <a:ext cx="54864" cy="457200"/>
          </a:xfrm>
          <a:prstGeom prst="roundRect">
            <a:avLst>
              <a:gd name="adj" fmla="val 50000"/>
            </a:avLst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80060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F6B9D"/>
                </a:solidFill>
                <a:latin typeface="PingFang TC"/>
                <a:ea typeface="PingFang TC"/>
                <a:cs typeface="PingFang TC"/>
              </a:rPr>
              <a:t>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80060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300">
                <a:solidFill>
                  <a:srgbClr val="4F5A7A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4864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缺乏信任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94360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鄰居想互借卻缺乏信任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與損壞賠償的保障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4526280"/>
            <a:ext cx="5212080" cy="2148840"/>
          </a:xfrm>
          <a:prstGeom prst="roundRect">
            <a:avLst>
              <a:gd name="adj" fmla="val 8000"/>
            </a:avLst>
          </a:prstGeom>
          <a:solidFill>
            <a:srgbClr val="14193D"/>
          </a:solidFill>
          <a:ln w="9525">
            <a:solidFill>
              <a:srgbClr val="2A325C"/>
            </a:solidFill>
          </a:ln>
          <a:effectLst>
            <a:outerShdw blurRad="304800" dist="1016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99632" y="4754880"/>
            <a:ext cx="54864" cy="4572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80060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BBF24"/>
                </a:solidFill>
                <a:latin typeface="PingFang TC"/>
                <a:ea typeface="PingFang TC"/>
                <a:cs typeface="PingFang TC"/>
              </a:rPr>
              <a:t>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480060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300">
                <a:solidFill>
                  <a:srgbClr val="4F5A7A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4864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租借不便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94360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租借店租金高、據點少、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品項受限，且需親自往返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5486400" cy="5486400"/>
          </a:xfrm>
          <a:gradFill flip="none" rotWithShape="1">
            <a:gsLst>
              <a:gs pos="0">
                <a:srgbClr val="7C3AED">
                  <a:alpha val="35000"/>
                </a:srgbClr>
              </a:gs>
              <a:gs pos="100000">
                <a:srgbClr val="7C3AED">
                  <a:alpha val="0"/>
                </a:srgbClr>
              </a:gs>
            </a:gsLst>
            <a:lin ang="81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4114800"/>
            <a:ext cx="5943600" cy="5943600"/>
          </a:xfrm>
          <a:gradFill flip="none" rotWithShape="1">
            <a:gsLst>
              <a:gs pos="0">
                <a:srgbClr val="00D4FF">
                  <a:alpha val="30000"/>
                </a:srgbClr>
              </a:gs>
              <a:gs pos="100000">
                <a:srgbClr val="00D4FF">
                  <a:alpha val="0"/>
                </a:srgbClr>
              </a:gs>
            </a:gsLst>
            <a:lin ang="189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18288"/>
          </a:xfrm>
          <a:gradFill flip="none" rotWithShape="1">
            <a:gsLst>
              <a:gs pos="0">
                <a:srgbClr val="00D4FF">
                  <a:alpha val="0"/>
                </a:srgbClr>
              </a:gs>
              <a:gs pos="50000">
                <a:srgbClr val="00D4FF">
                  <a:alpha val="60000"/>
                </a:srgbClr>
              </a:gs>
              <a:gs pos="100000">
                <a:srgbClr val="7C3AED">
                  <a:alpha val="0"/>
                </a:srgbClr>
              </a:gs>
            </a:gsLst>
            <a:lin ang="0" scaled="0"/>
            <a:tileRect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B86A8"/>
                </a:solidFill>
                <a:latin typeface="Inter"/>
                <a:ea typeface="Inter"/>
                <a:cs typeface="Inter"/>
              </a:rPr>
              <a:t>03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300">
                <a:solidFill>
                  <a:srgbClr val="7B86A8"/>
                </a:solidFill>
                <a:latin typeface="Inter"/>
                <a:ea typeface="Inter"/>
                <a:cs typeface="Inter"/>
              </a:rPr>
              <a:t>SHAREBOX · 專案簡報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400">
                <a:solidFill>
                  <a:srgbClr val="FF6B9D"/>
                </a:solidFill>
                <a:latin typeface="Inter"/>
                <a:ea typeface="Inter"/>
                <a:cs typeface="Inter"/>
              </a:rPr>
              <a:t>02 · 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22960"/>
            <a:ext cx="7315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0" b="1">
                <a:latin typeface="PingFang TC"/>
                <a:ea typeface="PingFang TC"/>
                <a:cs typeface="PingFang TC"/>
                <a:gradFill>
                  <a:gsLst>
                    <a:gs pos="0">
                      <a:srgbClr val="00D4FF"/>
                    </a:gs>
                    <a:gs pos="100000">
                      <a:srgbClr val="B19CFF"/>
                    </a:gs>
                  </a:gsLst>
                  <a:lin ang="900000" scaled="0"/>
                </a:gradFill>
              </a:rPr>
              <a:t>ShareBox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以「社區」為單位的工具共享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6583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把鄰居的閒置工具，轉化為社區共用資源；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用信任機制與押金代管，補上鄰里互借的最後一塊拼圖。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977640"/>
            <a:ext cx="164592" cy="164592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840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地圖搜尋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8404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附近鄰居的閒置工具一目了然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572000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43484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即時聊天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43484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App 內媒合、約定借用與歸還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5166360"/>
            <a:ext cx="164592" cy="164592"/>
          </a:xfrm>
          <a:prstGeom prst="ellipse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2920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押金代管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0292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雙向評價，建立鄰里信任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760720"/>
            <a:ext cx="164592" cy="164592"/>
          </a:xfrm>
          <a:prstGeom prst="ellipse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62356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綠界金流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6235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押金第三方代管，安全有保障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1188720"/>
            <a:ext cx="2834640" cy="5029200"/>
          </a:xfrm>
          <a:gradFill flip="none" rotWithShape="1">
            <a:gsLst>
              <a:gs pos="0">
                <a:srgbClr val="1C224D">
                  <a:alpha val="100000"/>
                </a:srgbClr>
              </a:gs>
              <a:gs pos="100000">
                <a:srgbClr val="0A0E27">
                  <a:alpha val="100000"/>
                </a:srgbClr>
              </a:gs>
            </a:gsLst>
            <a:lin ang="8100000" scaled="0"/>
            <a:tileRect/>
          </a:gradFill>
          <a:prstGeom prst="roundRect">
            <a:avLst>
              <a:gd name="adj" fmla="val 10000"/>
            </a:avLst>
          </a:prstGeom>
          <a:ln w="15240">
            <a:solidFill>
              <a:srgbClr val="00D4FF">
                <a:alpha val="60000"/>
              </a:srgbClr>
            </a:solidFill>
          </a:ln>
          <a:effectLst>
            <a:outerShdw blurRad="381000" dist="152400" dir="5400000" algn="t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95360" y="1508760"/>
            <a:ext cx="2468880" cy="457200"/>
          </a:xfrm>
          <a:prstGeom prst="roundRect">
            <a:avLst>
              <a:gd name="adj" fmla="val 30000"/>
            </a:avLst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15819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附近工具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69880" y="1581912"/>
            <a:ext cx="457200" cy="292608"/>
          </a:xfrm>
          <a:gradFill flip="none" rotWithShape="1">
            <a:gsLst>
              <a:gs pos="0">
                <a:srgbClr val="00D4FF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0" scaled="0"/>
            <a:tileRect/>
          </a:gradFill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595360" y="2148840"/>
            <a:ext cx="2468880" cy="1097280"/>
          </a:xfrm>
          <a:gradFill flip="none" rotWithShape="1">
            <a:gsLst>
              <a:gs pos="0">
                <a:srgbClr val="00D4FF">
                  <a:alpha val="25000"/>
                </a:srgbClr>
              </a:gs>
              <a:gs pos="100000">
                <a:srgbClr val="7C3AED">
                  <a:alpha val="25000"/>
                </a:srgbClr>
              </a:gs>
            </a:gsLst>
            <a:lin ang="8100000" scaled="0"/>
            <a:tileRect/>
          </a:gradFill>
          <a:prstGeom prst="roundRect">
            <a:avLst>
              <a:gd name="adj" fmla="val 15000"/>
            </a:avLst>
          </a:prstGeom>
          <a:ln w="6350">
            <a:solidFill>
              <a:srgbClr val="00D4FF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778240" y="233172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235915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00D4FF"/>
                </a:solidFill>
                <a:latin typeface="PingFang TC"/>
                <a:ea typeface="PingFang TC"/>
                <a:cs typeface="PingFang TC"/>
              </a:rPr>
              <a:t>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3317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電鑽 · 5F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26060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B86A8"/>
                </a:solidFill>
                <a:latin typeface="PingFang TC"/>
                <a:ea typeface="PingFang TC"/>
                <a:cs typeface="PingFang TC"/>
              </a:rPr>
              <a:t>距離 12m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285292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PingFang TC"/>
                <a:ea typeface="PingFang TC"/>
                <a:cs typeface="PingFang TC"/>
              </a:rPr>
              <a:t>押金 300 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5360" y="3383280"/>
            <a:ext cx="2468880" cy="822960"/>
          </a:xfrm>
          <a:prstGeom prst="roundRect">
            <a:avLst>
              <a:gd name="adj" fmla="val 15000"/>
            </a:avLst>
          </a:prstGeom>
          <a:solidFill>
            <a:srgbClr val="1C224D"/>
          </a:solidFill>
          <a:ln w="6350">
            <a:solidFill>
              <a:srgbClr val="2A3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778240" y="352044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0" y="35204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7C3AED"/>
                </a:solidFill>
                <a:latin typeface="PingFang TC"/>
                <a:ea typeface="PingFang TC"/>
                <a:cs typeface="PingFang TC"/>
              </a:rPr>
              <a:t>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35204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鋁梯 · 3F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37947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B86A8"/>
                </a:solidFill>
                <a:latin typeface="PingFang TC"/>
                <a:ea typeface="PingFang TC"/>
                <a:cs typeface="PingFang TC"/>
              </a:rPr>
              <a:t>距離 35m · 押金 200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95360" y="4343400"/>
            <a:ext cx="2468880" cy="822960"/>
          </a:xfrm>
          <a:prstGeom prst="roundRect">
            <a:avLst>
              <a:gd name="adj" fmla="val 15000"/>
            </a:avLst>
          </a:prstGeom>
          <a:solidFill>
            <a:srgbClr val="1C224D"/>
          </a:solidFill>
          <a:ln w="6350">
            <a:solidFill>
              <a:srgbClr val="2A3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778240" y="44805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0" y="44805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FF6B9D"/>
                </a:solidFill>
                <a:latin typeface="PingFang TC"/>
                <a:ea typeface="PingFang TC"/>
                <a:cs typeface="PingFang TC"/>
              </a:rPr>
              <a:t>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44805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扳手組 · 8F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47548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B86A8"/>
                </a:solidFill>
                <a:latin typeface="PingFang TC"/>
                <a:ea typeface="PingFang TC"/>
                <a:cs typeface="PingFang TC"/>
              </a:rPr>
              <a:t>距離 48m · 押金 150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78240" y="5440680"/>
            <a:ext cx="2103120" cy="502920"/>
          </a:xfrm>
          <a:gradFill flip="none" rotWithShape="1">
            <a:gsLst>
              <a:gs pos="0">
                <a:srgbClr val="00D4FF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0" scaled="0"/>
            <a:tileRect/>
          </a:gradFill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0" y="555955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立即申請借用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5486400" cy="5486400"/>
          </a:xfrm>
          <a:gradFill flip="none" rotWithShape="1">
            <a:gsLst>
              <a:gs pos="0">
                <a:srgbClr val="7C3AED">
                  <a:alpha val="35000"/>
                </a:srgbClr>
              </a:gs>
              <a:gs pos="100000">
                <a:srgbClr val="7C3AED">
                  <a:alpha val="0"/>
                </a:srgbClr>
              </a:gs>
            </a:gsLst>
            <a:lin ang="81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4114800"/>
            <a:ext cx="5943600" cy="5943600"/>
          </a:xfrm>
          <a:gradFill flip="none" rotWithShape="1">
            <a:gsLst>
              <a:gs pos="0">
                <a:srgbClr val="00D4FF">
                  <a:alpha val="30000"/>
                </a:srgbClr>
              </a:gs>
              <a:gs pos="100000">
                <a:srgbClr val="00D4FF">
                  <a:alpha val="0"/>
                </a:srgbClr>
              </a:gs>
            </a:gsLst>
            <a:lin ang="189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18288"/>
          </a:xfrm>
          <a:gradFill flip="none" rotWithShape="1">
            <a:gsLst>
              <a:gs pos="0">
                <a:srgbClr val="00D4FF">
                  <a:alpha val="0"/>
                </a:srgbClr>
              </a:gs>
              <a:gs pos="50000">
                <a:srgbClr val="00D4FF">
                  <a:alpha val="60000"/>
                </a:srgbClr>
              </a:gs>
              <a:gs pos="100000">
                <a:srgbClr val="7C3AED">
                  <a:alpha val="0"/>
                </a:srgbClr>
              </a:gs>
            </a:gsLst>
            <a:lin ang="0" scaled="0"/>
            <a:tileRect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B86A8"/>
                </a:solidFill>
                <a:latin typeface="Inter"/>
                <a:ea typeface="Inter"/>
                <a:cs typeface="Inter"/>
              </a:rPr>
              <a:t>04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300">
                <a:solidFill>
                  <a:srgbClr val="7B86A8"/>
                </a:solidFill>
                <a:latin typeface="Inter"/>
                <a:ea typeface="Inter"/>
                <a:cs typeface="Inter"/>
              </a:rPr>
              <a:t>SHAREBOX · 專案簡報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400">
                <a:solidFill>
                  <a:srgbClr val="7C3AED"/>
                </a:solidFill>
                <a:latin typeface="Inter"/>
                <a:ea typeface="Inter"/>
                <a:cs typeface="Inter"/>
              </a:rPr>
              <a:t>03 · CORE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核心功能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六大模組，覆蓋從刊登、媒合、金流到歸還的完整流程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3172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14193D"/>
          </a:solidFill>
          <a:ln w="9525">
            <a:solidFill>
              <a:srgbClr val="2A325C"/>
            </a:solidFill>
          </a:ln>
          <a:effectLst>
            <a:outerShdw blurRad="304800" dist="1016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2560320"/>
            <a:ext cx="54864" cy="4572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2651760"/>
            <a:ext cx="777240" cy="777240"/>
          </a:xfrm>
          <a:gradFill flip="none" rotWithShape="1">
            <a:gsLst>
              <a:gs pos="0">
                <a:srgbClr val="00D4FF">
                  <a:alpha val="35000"/>
                </a:srgbClr>
              </a:gs>
              <a:gs pos="100000">
                <a:srgbClr val="00D4FF">
                  <a:alpha val="10000"/>
                </a:srgbClr>
              </a:gs>
            </a:gsLst>
            <a:lin ang="8100000" scaled="0"/>
            <a:tileRect/>
          </a:gradFill>
          <a:prstGeom prst="roundRect">
            <a:avLst>
              <a:gd name="adj" fmla="val 25000"/>
            </a:avLst>
          </a:prstGeom>
          <a:ln w="6350">
            <a:solidFill>
              <a:srgbClr val="00D4FF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679192"/>
            <a:ext cx="777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6974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300">
                <a:solidFill>
                  <a:srgbClr val="4F5A7A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2044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工具刊登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90448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拍照、選分類、設定押金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233172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14193D"/>
          </a:solidFill>
          <a:ln w="9525">
            <a:solidFill>
              <a:srgbClr val="2A325C"/>
            </a:solidFill>
          </a:ln>
          <a:effectLst>
            <a:outerShdw blurRad="304800" dist="1016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35424" y="2560320"/>
            <a:ext cx="54864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82312" y="2651760"/>
            <a:ext cx="777240" cy="777240"/>
          </a:xfrm>
          <a:gradFill flip="none" rotWithShape="1">
            <a:gsLst>
              <a:gs pos="0">
                <a:srgbClr val="7C3AED">
                  <a:alpha val="35000"/>
                </a:srgbClr>
              </a:gs>
              <a:gs pos="100000">
                <a:srgbClr val="7C3AED">
                  <a:alpha val="10000"/>
                </a:srgbClr>
              </a:gs>
            </a:gsLst>
            <a:lin ang="8100000" scaled="0"/>
            <a:tileRect/>
          </a:gradFill>
          <a:prstGeom prst="roundRect">
            <a:avLst>
              <a:gd name="adj" fmla="val 25000"/>
            </a:avLst>
          </a:prstGeom>
          <a:ln w="6350">
            <a:solidFill>
              <a:srgbClr val="7C3AED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82312" y="2679192"/>
            <a:ext cx="777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🗺️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5472" y="26974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300">
                <a:solidFill>
                  <a:srgbClr val="4F5A7A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2312" y="352044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地圖與清單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2312" y="390448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附近工具一鍵搜尋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3024" y="233172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14193D"/>
          </a:solidFill>
          <a:ln w="9525">
            <a:solidFill>
              <a:srgbClr val="2A325C"/>
            </a:solidFill>
          </a:ln>
          <a:effectLst>
            <a:outerShdw blurRad="304800" dist="1016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57616" y="2560320"/>
            <a:ext cx="54864" cy="457200"/>
          </a:xfrm>
          <a:prstGeom prst="roundRect">
            <a:avLst>
              <a:gd name="adj" fmla="val 50000"/>
            </a:avLst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04504" y="2651760"/>
            <a:ext cx="777240" cy="777240"/>
          </a:xfrm>
          <a:gradFill flip="none" rotWithShape="1">
            <a:gsLst>
              <a:gs pos="0">
                <a:srgbClr val="FF6B9D">
                  <a:alpha val="35000"/>
                </a:srgbClr>
              </a:gs>
              <a:gs pos="100000">
                <a:srgbClr val="FF6B9D">
                  <a:alpha val="10000"/>
                </a:srgbClr>
              </a:gs>
            </a:gsLst>
            <a:lin ang="8100000" scaled="0"/>
            <a:tileRect/>
          </a:gradFill>
          <a:prstGeom prst="roundRect">
            <a:avLst>
              <a:gd name="adj" fmla="val 25000"/>
            </a:avLst>
          </a:prstGeom>
          <a:ln w="6350">
            <a:solidFill>
              <a:srgbClr val="FF6B9D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04504" y="2679192"/>
            <a:ext cx="777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27664" y="26974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300">
                <a:solidFill>
                  <a:srgbClr val="4F5A7A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04504" y="352044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即時聊天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04504" y="390448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借用申請與訂單溝通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507992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14193D"/>
          </a:solidFill>
          <a:ln w="9525">
            <a:solidFill>
              <a:srgbClr val="2A325C"/>
            </a:solidFill>
          </a:ln>
          <a:effectLst>
            <a:outerShdw blurRad="304800" dist="1016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13232" y="4736592"/>
            <a:ext cx="54864" cy="457200"/>
          </a:xfrm>
          <a:prstGeom prst="roundRect">
            <a:avLst>
              <a:gd name="adj" fmla="val 50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0120" y="4828032"/>
            <a:ext cx="777240" cy="777240"/>
          </a:xfrm>
          <a:gradFill flip="none" rotWithShape="1">
            <a:gsLst>
              <a:gs pos="0">
                <a:srgbClr val="A3E635">
                  <a:alpha val="35000"/>
                </a:srgbClr>
              </a:gs>
              <a:gs pos="100000">
                <a:srgbClr val="A3E635">
                  <a:alpha val="10000"/>
                </a:srgbClr>
              </a:gs>
            </a:gsLst>
            <a:lin ang="8100000" scaled="0"/>
            <a:tileRect/>
          </a:gradFill>
          <a:prstGeom prst="roundRect">
            <a:avLst>
              <a:gd name="adj" fmla="val 25000"/>
            </a:avLst>
          </a:prstGeom>
          <a:ln w="6350">
            <a:solidFill>
              <a:srgbClr val="A3E635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4855464"/>
            <a:ext cx="777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8737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300">
                <a:solidFill>
                  <a:srgbClr val="4F5A7A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5696712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押金代管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60807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綠界 ECPay 第三方金流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70832" y="4507992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14193D"/>
          </a:solidFill>
          <a:ln w="9525">
            <a:solidFill>
              <a:srgbClr val="2A325C"/>
            </a:solidFill>
          </a:ln>
          <a:effectLst>
            <a:outerShdw blurRad="304800" dist="1016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535424" y="4736592"/>
            <a:ext cx="54864" cy="4572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782312" y="4828032"/>
            <a:ext cx="777240" cy="777240"/>
          </a:xfrm>
          <a:gradFill flip="none" rotWithShape="1">
            <a:gsLst>
              <a:gs pos="0">
                <a:srgbClr val="FBBF24">
                  <a:alpha val="35000"/>
                </a:srgbClr>
              </a:gs>
              <a:gs pos="100000">
                <a:srgbClr val="FBBF24">
                  <a:alpha val="10000"/>
                </a:srgbClr>
              </a:gs>
            </a:gsLst>
            <a:lin ang="8100000" scaled="0"/>
            <a:tileRect/>
          </a:gradFill>
          <a:prstGeom prst="roundRect">
            <a:avLst>
              <a:gd name="adj" fmla="val 25000"/>
            </a:avLst>
          </a:prstGeom>
          <a:ln w="6350">
            <a:solidFill>
              <a:srgbClr val="FBBF24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82312" y="4855464"/>
            <a:ext cx="777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5472" y="48737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300">
                <a:solidFill>
                  <a:srgbClr val="4F5A7A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82312" y="5696712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歸還與評價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82312" y="60807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雙向評價建立信任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93024" y="4507992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14193D"/>
          </a:solidFill>
          <a:ln w="9525">
            <a:solidFill>
              <a:srgbClr val="2A325C"/>
            </a:solidFill>
          </a:ln>
          <a:effectLst>
            <a:outerShdw blurRad="304800" dist="1016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357616" y="4736592"/>
            <a:ext cx="54864" cy="4572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604504" y="4828032"/>
            <a:ext cx="777240" cy="777240"/>
          </a:xfrm>
          <a:gradFill flip="none" rotWithShape="1">
            <a:gsLst>
              <a:gs pos="0">
                <a:srgbClr val="00D4FF">
                  <a:alpha val="35000"/>
                </a:srgbClr>
              </a:gs>
              <a:gs pos="100000">
                <a:srgbClr val="00D4FF">
                  <a:alpha val="10000"/>
                </a:srgbClr>
              </a:gs>
            </a:gsLst>
            <a:lin ang="8100000" scaled="0"/>
            <a:tileRect/>
          </a:gradFill>
          <a:prstGeom prst="roundRect">
            <a:avLst>
              <a:gd name="adj" fmla="val 25000"/>
            </a:avLst>
          </a:prstGeom>
          <a:ln w="6350">
            <a:solidFill>
              <a:srgbClr val="00D4FF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04504" y="4855464"/>
            <a:ext cx="777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27664" y="48737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spc="300">
                <a:solidFill>
                  <a:srgbClr val="4F5A7A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04504" y="5696712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推播通知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04504" y="60807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申請、同意、歸還提醒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5486400" cy="5486400"/>
          </a:xfrm>
          <a:gradFill flip="none" rotWithShape="1">
            <a:gsLst>
              <a:gs pos="0">
                <a:srgbClr val="7C3AED">
                  <a:alpha val="35000"/>
                </a:srgbClr>
              </a:gs>
              <a:gs pos="100000">
                <a:srgbClr val="7C3AED">
                  <a:alpha val="0"/>
                </a:srgbClr>
              </a:gs>
            </a:gsLst>
            <a:lin ang="81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4114800"/>
            <a:ext cx="5943600" cy="5943600"/>
          </a:xfrm>
          <a:gradFill flip="none" rotWithShape="1">
            <a:gsLst>
              <a:gs pos="0">
                <a:srgbClr val="00D4FF">
                  <a:alpha val="30000"/>
                </a:srgbClr>
              </a:gs>
              <a:gs pos="100000">
                <a:srgbClr val="00D4FF">
                  <a:alpha val="0"/>
                </a:srgbClr>
              </a:gs>
            </a:gsLst>
            <a:lin ang="189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18288"/>
          </a:xfrm>
          <a:gradFill flip="none" rotWithShape="1">
            <a:gsLst>
              <a:gs pos="0">
                <a:srgbClr val="00D4FF">
                  <a:alpha val="0"/>
                </a:srgbClr>
              </a:gs>
              <a:gs pos="50000">
                <a:srgbClr val="00D4FF">
                  <a:alpha val="60000"/>
                </a:srgbClr>
              </a:gs>
              <a:gs pos="100000">
                <a:srgbClr val="7C3AED">
                  <a:alpha val="0"/>
                </a:srgbClr>
              </a:gs>
            </a:gsLst>
            <a:lin ang="0" scaled="0"/>
            <a:tileRect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B86A8"/>
                </a:solidFill>
                <a:latin typeface="Inter"/>
                <a:ea typeface="Inter"/>
                <a:cs typeface="Inter"/>
              </a:rPr>
              <a:t>05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300">
                <a:solidFill>
                  <a:srgbClr val="7B86A8"/>
                </a:solidFill>
                <a:latin typeface="Inter"/>
                <a:ea typeface="Inter"/>
                <a:cs typeface="Inter"/>
              </a:rPr>
              <a:t>SHAREBOX · 專案簡報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400">
                <a:solidFill>
                  <a:srgbClr val="A3E635"/>
                </a:solidFill>
                <a:latin typeface="Inter"/>
                <a:ea typeface="Inter"/>
                <a:cs typeface="Inter"/>
              </a:rPr>
              <a:t>04 · MARKET &amp; 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目標市場與商業模式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400">
                <a:solidFill>
                  <a:srgbClr val="00D4FF"/>
                </a:solidFill>
                <a:latin typeface="Inter"/>
                <a:ea typeface="Inter"/>
                <a:cs typeface="Inter"/>
              </a:rPr>
              <a:t>TOTAL ADDRESSABLE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6400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>
                <a:latin typeface="PingFang TC"/>
                <a:ea typeface="PingFang TC"/>
                <a:cs typeface="PingFang TC"/>
                <a:gradFill>
                  <a:gsLst>
                    <a:gs pos="0">
                      <a:srgbClr val="00D4FF"/>
                    </a:gs>
                    <a:gs pos="100000">
                      <a:srgbClr val="B19CFF"/>
                    </a:gs>
                  </a:gsLst>
                  <a:lin ang="900000" scaled="0"/>
                </a:gradFill>
              </a:rPr>
              <a:t>3.5M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292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都會區公寓大廈住戶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86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市場尚無直接競品，以信任機制為核心差異化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2860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400">
                <a:solidFill>
                  <a:srgbClr val="FF6B9D"/>
                </a:solidFill>
                <a:latin typeface="Inter"/>
                <a:ea typeface="Inter"/>
                <a:cs typeface="Inter"/>
              </a:rPr>
              <a:t>REVENUE STREAMS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743200"/>
            <a:ext cx="4389120" cy="960120"/>
          </a:xfrm>
          <a:prstGeom prst="roundRect">
            <a:avLst>
              <a:gd name="adj" fmla="val 8000"/>
            </a:avLst>
          </a:prstGeom>
          <a:solidFill>
            <a:srgbClr val="14193D"/>
          </a:solidFill>
          <a:ln w="9525">
            <a:solidFill>
              <a:srgbClr val="2A325C"/>
            </a:solidFill>
          </a:ln>
          <a:effectLst>
            <a:outerShdw blurRad="304800" dist="1016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79792" y="2971800"/>
            <a:ext cx="54864" cy="4572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29077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免費版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32918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降低使用門檻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303580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>
                <a:solidFill>
                  <a:srgbClr val="00D4FF"/>
                </a:solidFill>
                <a:latin typeface="Inter"/>
                <a:ea typeface="Inter"/>
                <a:cs typeface="Inter"/>
              </a:rPr>
              <a:t>免費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3886200"/>
            <a:ext cx="4389120" cy="960120"/>
          </a:xfrm>
          <a:prstGeom prst="roundRect">
            <a:avLst>
              <a:gd name="adj" fmla="val 8000"/>
            </a:avLst>
          </a:prstGeom>
          <a:solidFill>
            <a:srgbClr val="14193D"/>
          </a:solidFill>
          <a:ln w="9525">
            <a:solidFill>
              <a:srgbClr val="2A325C"/>
            </a:solidFill>
          </a:ln>
          <a:effectLst>
            <a:outerShdw blurRad="304800" dist="1016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79792" y="4114800"/>
            <a:ext cx="54864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40507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Premium 訂閱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4348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進階篩選與優先媒合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417880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>
                <a:solidFill>
                  <a:srgbClr val="7C3AED"/>
                </a:solidFill>
                <a:latin typeface="Inter"/>
                <a:ea typeface="Inter"/>
                <a:cs typeface="Inter"/>
              </a:rPr>
              <a:t>NT$ 99/月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029200"/>
            <a:ext cx="4389120" cy="960120"/>
          </a:xfrm>
          <a:prstGeom prst="roundRect">
            <a:avLst>
              <a:gd name="adj" fmla="val 8000"/>
            </a:avLst>
          </a:prstGeom>
          <a:solidFill>
            <a:srgbClr val="14193D"/>
          </a:solidFill>
          <a:ln w="9525">
            <a:solidFill>
              <a:srgbClr val="2A325C"/>
            </a:solidFill>
          </a:ln>
          <a:effectLst>
            <a:outerShdw blurRad="304800" dist="1016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79792" y="5257800"/>
            <a:ext cx="54864" cy="457200"/>
          </a:xfrm>
          <a:prstGeom prst="roundRect">
            <a:avLst>
              <a:gd name="adj" fmla="val 50000"/>
            </a:avLst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51937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交易抽成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55778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每筆付費借用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532180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>
                <a:solidFill>
                  <a:srgbClr val="FF6B9D"/>
                </a:solidFill>
                <a:latin typeface="Inter"/>
                <a:ea typeface="Inter"/>
                <a:cs typeface="Inter"/>
              </a:rPr>
              <a:t>10%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5486400" cy="5486400"/>
          </a:xfrm>
          <a:gradFill flip="none" rotWithShape="1">
            <a:gsLst>
              <a:gs pos="0">
                <a:srgbClr val="7C3AED">
                  <a:alpha val="35000"/>
                </a:srgbClr>
              </a:gs>
              <a:gs pos="100000">
                <a:srgbClr val="7C3AED">
                  <a:alpha val="0"/>
                </a:srgbClr>
              </a:gs>
            </a:gsLst>
            <a:lin ang="81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4114800"/>
            <a:ext cx="5943600" cy="5943600"/>
          </a:xfrm>
          <a:gradFill flip="none" rotWithShape="1">
            <a:gsLst>
              <a:gs pos="0">
                <a:srgbClr val="00D4FF">
                  <a:alpha val="30000"/>
                </a:srgbClr>
              </a:gs>
              <a:gs pos="100000">
                <a:srgbClr val="00D4FF">
                  <a:alpha val="0"/>
                </a:srgbClr>
              </a:gs>
            </a:gsLst>
            <a:lin ang="189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18288"/>
          </a:xfrm>
          <a:gradFill flip="none" rotWithShape="1">
            <a:gsLst>
              <a:gs pos="0">
                <a:srgbClr val="00D4FF">
                  <a:alpha val="0"/>
                </a:srgbClr>
              </a:gs>
              <a:gs pos="50000">
                <a:srgbClr val="00D4FF">
                  <a:alpha val="60000"/>
                </a:srgbClr>
              </a:gs>
              <a:gs pos="100000">
                <a:srgbClr val="7C3AED">
                  <a:alpha val="0"/>
                </a:srgbClr>
              </a:gs>
            </a:gsLst>
            <a:lin ang="0" scaled="0"/>
            <a:tileRect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B86A8"/>
                </a:solidFill>
                <a:latin typeface="Inter"/>
                <a:ea typeface="Inter"/>
                <a:cs typeface="Inter"/>
              </a:rPr>
              <a:t>06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300">
                <a:solidFill>
                  <a:srgbClr val="7B86A8"/>
                </a:solidFill>
                <a:latin typeface="Inter"/>
                <a:ea typeface="Inter"/>
                <a:cs typeface="Inter"/>
              </a:rPr>
              <a:t>SHAREBOX · 專案簡報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400">
                <a:solidFill>
                  <a:srgbClr val="FF6B9D"/>
                </a:solidFill>
                <a:latin typeface="Inter"/>
                <a:ea typeface="Inter"/>
                <a:cs typeface="Inter"/>
              </a:rPr>
              <a:t>05 · THE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專案團隊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5 人核心團隊，橫跨產品、技術、設計與行銷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86000"/>
            <a:ext cx="2148840" cy="3931920"/>
          </a:xfrm>
          <a:prstGeom prst="roundRect">
            <a:avLst>
              <a:gd name="adj" fmla="val 8000"/>
            </a:avLst>
          </a:prstGeom>
          <a:solidFill>
            <a:srgbClr val="14193D"/>
          </a:solidFill>
          <a:ln w="9525">
            <a:solidFill>
              <a:srgbClr val="2A325C"/>
            </a:solidFill>
          </a:ln>
          <a:effectLst>
            <a:outerShdw blurRad="304800" dist="1016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1540" y="2743200"/>
            <a:ext cx="1463040" cy="1463040"/>
          </a:xfrm>
          <a:gradFill flip="none" rotWithShape="1">
            <a:gsLst>
              <a:gs pos="0">
                <a:srgbClr val="00D4FF">
                  <a:alpha val="100000"/>
                </a:srgbClr>
              </a:gs>
              <a:gs pos="100000">
                <a:srgbClr val="7C3AED">
                  <a:alpha val="80000"/>
                </a:srgbClr>
              </a:gs>
            </a:gsLst>
            <a:lin ang="81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" y="3035808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8912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林佳穎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280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spc="200">
                <a:solidFill>
                  <a:srgbClr val="7B86A8"/>
                </a:solidFill>
                <a:latin typeface="Inter"/>
                <a:ea typeface="Inter"/>
                <a:cs typeface="Inter"/>
              </a:rPr>
              <a:t>Lin Chia-Ying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48740" y="5212080"/>
            <a:ext cx="548640" cy="18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3949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D4FF"/>
                </a:solidFill>
                <a:latin typeface="PingFang TC"/>
                <a:ea typeface="PingFang TC"/>
                <a:cs typeface="PingFang TC"/>
              </a:rPr>
              <a:t>專案經理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424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spc="150">
                <a:solidFill>
                  <a:srgbClr val="7B86A8"/>
                </a:solidFill>
                <a:latin typeface="Inter"/>
                <a:ea typeface="Inter"/>
                <a:cs typeface="Inter"/>
              </a:rPr>
              <a:t>Project Manager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16352" y="2286000"/>
            <a:ext cx="2148840" cy="3931920"/>
          </a:xfrm>
          <a:prstGeom prst="roundRect">
            <a:avLst>
              <a:gd name="adj" fmla="val 8000"/>
            </a:avLst>
          </a:prstGeom>
          <a:solidFill>
            <a:srgbClr val="14193D"/>
          </a:solidFill>
          <a:ln w="9525">
            <a:solidFill>
              <a:srgbClr val="2A325C"/>
            </a:solidFill>
          </a:ln>
          <a:effectLst>
            <a:outerShdw blurRad="304800" dist="1016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9252" y="2743200"/>
            <a:ext cx="1463040" cy="1463040"/>
          </a:xfrm>
          <a:gradFill flip="none" rotWithShape="1">
            <a:gsLst>
              <a:gs pos="0">
                <a:srgbClr val="7C3AED">
                  <a:alpha val="100000"/>
                </a:srgbClr>
              </a:gs>
              <a:gs pos="100000">
                <a:srgbClr val="7C3AED">
                  <a:alpha val="80000"/>
                </a:srgbClr>
              </a:gs>
            </a:gsLst>
            <a:lin ang="81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9252" y="3035808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16352" y="438912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陳冠宇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16352" y="48280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spc="200">
                <a:solidFill>
                  <a:srgbClr val="7B86A8"/>
                </a:solidFill>
                <a:latin typeface="Inter"/>
                <a:ea typeface="Inter"/>
                <a:cs typeface="Inter"/>
              </a:rPr>
              <a:t>Chen Kuan-Yu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16452" y="5212080"/>
            <a:ext cx="548640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16352" y="53949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PingFang TC"/>
                <a:ea typeface="PingFang TC"/>
                <a:cs typeface="PingFang TC"/>
              </a:rPr>
              <a:t>後端工程師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6352" y="57424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spc="150">
                <a:solidFill>
                  <a:srgbClr val="7B86A8"/>
                </a:solidFill>
                <a:latin typeface="Inter"/>
                <a:ea typeface="Inter"/>
                <a:cs typeface="Inter"/>
              </a:rPr>
              <a:t>Backend Engineer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84064" y="2286000"/>
            <a:ext cx="2148840" cy="3931920"/>
          </a:xfrm>
          <a:prstGeom prst="roundRect">
            <a:avLst>
              <a:gd name="adj" fmla="val 8000"/>
            </a:avLst>
          </a:prstGeom>
          <a:solidFill>
            <a:srgbClr val="14193D"/>
          </a:solidFill>
          <a:ln w="9525">
            <a:solidFill>
              <a:srgbClr val="2A325C"/>
            </a:solidFill>
          </a:ln>
          <a:effectLst>
            <a:outerShdw blurRad="304800" dist="1016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426964" y="2743200"/>
            <a:ext cx="1463040" cy="1463040"/>
          </a:xfrm>
          <a:gradFill flip="none" rotWithShape="1">
            <a:gsLst>
              <a:gs pos="0">
                <a:srgbClr val="FF6B9D">
                  <a:alpha val="100000"/>
                </a:srgbClr>
              </a:gs>
              <a:gs pos="100000">
                <a:srgbClr val="7C3AED">
                  <a:alpha val="80000"/>
                </a:srgbClr>
              </a:gs>
            </a:gsLst>
            <a:lin ang="81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26964" y="3035808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84064" y="438912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張哲瑋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4064" y="48280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spc="200">
                <a:solidFill>
                  <a:srgbClr val="7B86A8"/>
                </a:solidFill>
                <a:latin typeface="Inter"/>
                <a:ea typeface="Inter"/>
                <a:cs typeface="Inter"/>
              </a:rPr>
              <a:t>Chang Che-Wei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84164" y="5212080"/>
            <a:ext cx="548640" cy="18288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84064" y="53949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6B9D"/>
                </a:solidFill>
                <a:latin typeface="PingFang TC"/>
                <a:ea typeface="PingFang TC"/>
                <a:cs typeface="PingFang TC"/>
              </a:rPr>
              <a:t>前端 / App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4064" y="57424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spc="150">
                <a:solidFill>
                  <a:srgbClr val="7B86A8"/>
                </a:solidFill>
                <a:latin typeface="Inter"/>
                <a:ea typeface="Inter"/>
                <a:cs typeface="Inter"/>
              </a:rPr>
              <a:t>Frontend / App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51776" y="2286000"/>
            <a:ext cx="2148840" cy="3931920"/>
          </a:xfrm>
          <a:prstGeom prst="roundRect">
            <a:avLst>
              <a:gd name="adj" fmla="val 8000"/>
            </a:avLst>
          </a:prstGeom>
          <a:solidFill>
            <a:srgbClr val="14193D"/>
          </a:solidFill>
          <a:ln w="9525">
            <a:solidFill>
              <a:srgbClr val="2A325C"/>
            </a:solidFill>
          </a:ln>
          <a:effectLst>
            <a:outerShdw blurRad="304800" dist="1016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694676" y="2743200"/>
            <a:ext cx="1463040" cy="1463040"/>
          </a:xfrm>
          <a:gradFill flip="none" rotWithShape="1">
            <a:gsLst>
              <a:gs pos="0">
                <a:srgbClr val="A3E635">
                  <a:alpha val="100000"/>
                </a:srgbClr>
              </a:gs>
              <a:gs pos="100000">
                <a:srgbClr val="7C3AED">
                  <a:alpha val="80000"/>
                </a:srgbClr>
              </a:gs>
            </a:gsLst>
            <a:lin ang="81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94676" y="3035808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51776" y="438912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吳采潔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51776" y="48280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spc="200">
                <a:solidFill>
                  <a:srgbClr val="7B86A8"/>
                </a:solidFill>
                <a:latin typeface="Inter"/>
                <a:ea typeface="Inter"/>
                <a:cs typeface="Inter"/>
              </a:rPr>
              <a:t>Wu Tsai-Chieh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51876" y="5212080"/>
            <a:ext cx="548640" cy="18288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51776" y="53949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A3E635"/>
                </a:solidFill>
                <a:latin typeface="PingFang TC"/>
                <a:ea typeface="PingFang TC"/>
                <a:cs typeface="PingFang TC"/>
              </a:rPr>
              <a:t>UI/UX 設計師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51776" y="57424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spc="150">
                <a:solidFill>
                  <a:srgbClr val="7B86A8"/>
                </a:solidFill>
                <a:latin typeface="Inter"/>
                <a:ea typeface="Inter"/>
                <a:cs typeface="Inter"/>
              </a:rPr>
              <a:t>Product Designer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19488" y="2286000"/>
            <a:ext cx="2148840" cy="3931920"/>
          </a:xfrm>
          <a:prstGeom prst="roundRect">
            <a:avLst>
              <a:gd name="adj" fmla="val 8000"/>
            </a:avLst>
          </a:prstGeom>
          <a:solidFill>
            <a:srgbClr val="14193D"/>
          </a:solidFill>
          <a:ln w="9525">
            <a:solidFill>
              <a:srgbClr val="2A325C"/>
            </a:solidFill>
          </a:ln>
          <a:effectLst>
            <a:outerShdw blurRad="304800" dist="1016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962388" y="2743200"/>
            <a:ext cx="1463040" cy="1463040"/>
          </a:xfrm>
          <a:gradFill flip="none" rotWithShape="1">
            <a:gsLst>
              <a:gs pos="0">
                <a:srgbClr val="FBBF24">
                  <a:alpha val="100000"/>
                </a:srgbClr>
              </a:gs>
              <a:gs pos="100000">
                <a:srgbClr val="7C3AED">
                  <a:alpha val="80000"/>
                </a:srgbClr>
              </a:gs>
            </a:gsLst>
            <a:lin ang="81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62388" y="3035808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19488" y="438912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黃柏翔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19488" y="48280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spc="200">
                <a:solidFill>
                  <a:srgbClr val="7B86A8"/>
                </a:solidFill>
                <a:latin typeface="Inter"/>
                <a:ea typeface="Inter"/>
                <a:cs typeface="Inter"/>
              </a:rPr>
              <a:t>Huang Po-Hsiang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419588" y="5212080"/>
            <a:ext cx="548640" cy="1828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19488" y="53949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BBF24"/>
                </a:solidFill>
                <a:latin typeface="PingFang TC"/>
                <a:ea typeface="PingFang TC"/>
                <a:cs typeface="PingFang TC"/>
              </a:rPr>
              <a:t>行銷企劃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19488" y="57424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spc="150">
                <a:solidFill>
                  <a:srgbClr val="7B86A8"/>
                </a:solidFill>
                <a:latin typeface="Inter"/>
                <a:ea typeface="Inter"/>
                <a:cs typeface="Inter"/>
              </a:rPr>
              <a:t>Marketing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5486400" cy="5486400"/>
          </a:xfrm>
          <a:gradFill flip="none" rotWithShape="1">
            <a:gsLst>
              <a:gs pos="0">
                <a:srgbClr val="7C3AED">
                  <a:alpha val="35000"/>
                </a:srgbClr>
              </a:gs>
              <a:gs pos="100000">
                <a:srgbClr val="7C3AED">
                  <a:alpha val="0"/>
                </a:srgbClr>
              </a:gs>
            </a:gsLst>
            <a:lin ang="81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4114800"/>
            <a:ext cx="5943600" cy="5943600"/>
          </a:xfrm>
          <a:gradFill flip="none" rotWithShape="1">
            <a:gsLst>
              <a:gs pos="0">
                <a:srgbClr val="00D4FF">
                  <a:alpha val="30000"/>
                </a:srgbClr>
              </a:gs>
              <a:gs pos="100000">
                <a:srgbClr val="00D4FF">
                  <a:alpha val="0"/>
                </a:srgbClr>
              </a:gs>
            </a:gsLst>
            <a:lin ang="189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18288"/>
          </a:xfrm>
          <a:gradFill flip="none" rotWithShape="1">
            <a:gsLst>
              <a:gs pos="0">
                <a:srgbClr val="00D4FF">
                  <a:alpha val="0"/>
                </a:srgbClr>
              </a:gs>
              <a:gs pos="50000">
                <a:srgbClr val="00D4FF">
                  <a:alpha val="60000"/>
                </a:srgbClr>
              </a:gs>
              <a:gs pos="100000">
                <a:srgbClr val="7C3AED">
                  <a:alpha val="0"/>
                </a:srgbClr>
              </a:gs>
            </a:gsLst>
            <a:lin ang="0" scaled="0"/>
            <a:tileRect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B86A8"/>
                </a:solidFill>
                <a:latin typeface="Inter"/>
                <a:ea typeface="Inter"/>
                <a:cs typeface="Inter"/>
              </a:rPr>
              <a:t>07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300">
                <a:solidFill>
                  <a:srgbClr val="7B86A8"/>
                </a:solidFill>
                <a:latin typeface="Inter"/>
                <a:ea typeface="Inter"/>
                <a:cs typeface="Inter"/>
              </a:rPr>
              <a:t>SHAREBOX · 專案簡報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400">
                <a:solidFill>
                  <a:srgbClr val="00D4FF"/>
                </a:solidFill>
                <a:latin typeface="Inter"/>
                <a:ea typeface="Inter"/>
                <a:cs typeface="Inter"/>
              </a:rPr>
              <a:t>06 ·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專案時程與里程碑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從需求確認到正式上線，預計 8 個月完成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931920"/>
            <a:ext cx="9418320" cy="45720"/>
          </a:xfrm>
          <a:gradFill flip="none" rotWithShape="1">
            <a:gsLst>
              <a:gs pos="0">
                <a:srgbClr val="00D4FF">
                  <a:alpha val="100000"/>
                </a:srgbClr>
              </a:gs>
              <a:gs pos="33000">
                <a:srgbClr val="7C3AED">
                  <a:alpha val="100000"/>
                </a:srgbClr>
              </a:gs>
              <a:gs pos="66000">
                <a:srgbClr val="FF6B9D">
                  <a:alpha val="100000"/>
                </a:srgbClr>
              </a:gs>
              <a:gs pos="100000">
                <a:srgbClr val="FBBF24">
                  <a:alpha val="100000"/>
                </a:srgbClr>
              </a:gs>
            </a:gsLst>
            <a:lin ang="0" scaled="0"/>
            <a:tileRect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3589020"/>
            <a:ext cx="731520" cy="731520"/>
          </a:xfrm>
          <a:gradFill flip="none" rotWithShape="1">
            <a:gsLst>
              <a:gs pos="0">
                <a:srgbClr val="00D4FF">
                  <a:alpha val="60000"/>
                </a:srgbClr>
              </a:gs>
              <a:gs pos="100000">
                <a:srgbClr val="00D4FF">
                  <a:alpha val="0"/>
                </a:srgbClr>
              </a:gs>
            </a:gsLst>
            <a:lin ang="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07008" y="3790188"/>
            <a:ext cx="329184" cy="329184"/>
          </a:xfrm>
          <a:gradFill flip="none" rotWithShape="1">
            <a:gsLst>
              <a:gs pos="0">
                <a:srgbClr val="00D4FF">
                  <a:alpha val="100000"/>
                </a:srgbClr>
              </a:gs>
              <a:gs pos="100000">
                <a:srgbClr val="7C3AED">
                  <a:alpha val="80000"/>
                </a:srgbClr>
              </a:gs>
            </a:gsLst>
            <a:lin ang="8100000" scaled="0"/>
            <a:tileRect/>
          </a:gradFill>
          <a:prstGeom prst="ellips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22860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spc="300">
                <a:solidFill>
                  <a:srgbClr val="00D4FF"/>
                </a:solidFill>
                <a:latin typeface="Inter"/>
                <a:ea typeface="Inter"/>
                <a:cs typeface="Inter"/>
              </a:rPr>
              <a:t>M1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26517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需求確認與設計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" y="31546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spc="200">
                <a:solidFill>
                  <a:srgbClr val="7B86A8"/>
                </a:solidFill>
                <a:latin typeface="Inter"/>
                <a:ea typeface="Inter"/>
                <a:cs typeface="Inter"/>
              </a:rPr>
              <a:t>2026 · 1 – 2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" y="45262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釐清功能、UI/UX 定稿</a:t>
            </a:r>
          </a:p>
        </p:txBody>
      </p:sp>
      <p:sp>
        <p:nvSpPr>
          <p:cNvPr id="18" name="Oval 17"/>
          <p:cNvSpPr/>
          <p:nvPr/>
        </p:nvSpPr>
        <p:spPr>
          <a:xfrm>
            <a:off x="4145280" y="3589020"/>
            <a:ext cx="731520" cy="731520"/>
          </a:xfrm>
          <a:gradFill flip="none" rotWithShape="1">
            <a:gsLst>
              <a:gs pos="0">
                <a:srgbClr val="7C3AED">
                  <a:alpha val="60000"/>
                </a:srgbClr>
              </a:gs>
              <a:gs pos="100000">
                <a:srgbClr val="7C3AED">
                  <a:alpha val="0"/>
                </a:srgbClr>
              </a:gs>
            </a:gsLst>
            <a:lin ang="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46448" y="3790188"/>
            <a:ext cx="329184" cy="329184"/>
          </a:xfrm>
          <a:gradFill flip="none" rotWithShape="1">
            <a:gsLst>
              <a:gs pos="0">
                <a:srgbClr val="7C3AED">
                  <a:alpha val="100000"/>
                </a:srgbClr>
              </a:gs>
              <a:gs pos="100000">
                <a:srgbClr val="7C3AED">
                  <a:alpha val="80000"/>
                </a:srgbClr>
              </a:gs>
            </a:gsLst>
            <a:lin ang="8100000" scaled="0"/>
            <a:tileRect/>
          </a:gradFill>
          <a:prstGeom prst="ellips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22320" y="22860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spc="300">
                <a:solidFill>
                  <a:srgbClr val="7C3AED"/>
                </a:solidFill>
                <a:latin typeface="Inter"/>
                <a:ea typeface="Inter"/>
                <a:cs typeface="Inter"/>
              </a:rPr>
              <a:t>M2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2320" y="26517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MVP 開發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22320" y="31546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spc="200">
                <a:solidFill>
                  <a:srgbClr val="7B86A8"/>
                </a:solidFill>
                <a:latin typeface="Inter"/>
                <a:ea typeface="Inter"/>
                <a:cs typeface="Inter"/>
              </a:rPr>
              <a:t>2026 · 3 – 5 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0880" y="45262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核心功能上線可內部測試</a:t>
            </a:r>
          </a:p>
        </p:txBody>
      </p:sp>
      <p:sp>
        <p:nvSpPr>
          <p:cNvPr id="24" name="Oval 23"/>
          <p:cNvSpPr/>
          <p:nvPr/>
        </p:nvSpPr>
        <p:spPr>
          <a:xfrm>
            <a:off x="7284720" y="3589020"/>
            <a:ext cx="731520" cy="731520"/>
          </a:xfrm>
          <a:gradFill flip="none" rotWithShape="1">
            <a:gsLst>
              <a:gs pos="0">
                <a:srgbClr val="FF6B9D">
                  <a:alpha val="60000"/>
                </a:srgbClr>
              </a:gs>
              <a:gs pos="100000">
                <a:srgbClr val="FF6B9D">
                  <a:alpha val="0"/>
                </a:srgbClr>
              </a:gs>
            </a:gsLst>
            <a:lin ang="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85888" y="3790188"/>
            <a:ext cx="329184" cy="329184"/>
          </a:xfrm>
          <a:gradFill flip="none" rotWithShape="1">
            <a:gsLst>
              <a:gs pos="0">
                <a:srgbClr val="FF6B9D">
                  <a:alpha val="100000"/>
                </a:srgbClr>
              </a:gs>
              <a:gs pos="100000">
                <a:srgbClr val="7C3AED">
                  <a:alpha val="80000"/>
                </a:srgbClr>
              </a:gs>
            </a:gsLst>
            <a:lin ang="8100000" scaled="0"/>
            <a:tileRect/>
          </a:gradFill>
          <a:prstGeom prst="ellips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1760" y="22860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spc="300">
                <a:solidFill>
                  <a:srgbClr val="FF6B9D"/>
                </a:solidFill>
                <a:latin typeface="Inter"/>
                <a:ea typeface="Inter"/>
                <a:cs typeface="Inter"/>
              </a:rPr>
              <a:t>M3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1760" y="26517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封閉測試 Beta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1760" y="31546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spc="200">
                <a:solidFill>
                  <a:srgbClr val="7B86A8"/>
                </a:solidFill>
                <a:latin typeface="Inter"/>
                <a:ea typeface="Inter"/>
                <a:cs typeface="Inter"/>
              </a:rPr>
              <a:t>2026 · 6 – 7 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0320" y="45262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500 位社區住戶試用</a:t>
            </a:r>
          </a:p>
        </p:txBody>
      </p:sp>
      <p:sp>
        <p:nvSpPr>
          <p:cNvPr id="30" name="Oval 29"/>
          <p:cNvSpPr/>
          <p:nvPr/>
        </p:nvSpPr>
        <p:spPr>
          <a:xfrm>
            <a:off x="10424160" y="3589020"/>
            <a:ext cx="731520" cy="731520"/>
          </a:xfrm>
          <a:gradFill flip="none" rotWithShape="1">
            <a:gsLst>
              <a:gs pos="0">
                <a:srgbClr val="FBBF24">
                  <a:alpha val="60000"/>
                </a:srgbClr>
              </a:gs>
              <a:gs pos="100000">
                <a:srgbClr val="FBBF24">
                  <a:alpha val="0"/>
                </a:srgbClr>
              </a:gs>
            </a:gsLst>
            <a:lin ang="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25328" y="3790188"/>
            <a:ext cx="329184" cy="329184"/>
          </a:xfrm>
          <a:gradFill flip="none" rotWithShape="1">
            <a:gsLst>
              <a:gs pos="0">
                <a:srgbClr val="FBBF24">
                  <a:alpha val="100000"/>
                </a:srgbClr>
              </a:gs>
              <a:gs pos="100000">
                <a:srgbClr val="7C3AED">
                  <a:alpha val="80000"/>
                </a:srgbClr>
              </a:gs>
            </a:gsLst>
            <a:lin ang="8100000" scaled="0"/>
            <a:tileRect/>
          </a:gradFill>
          <a:prstGeom prst="ellips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22860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spc="300">
                <a:solidFill>
                  <a:srgbClr val="FBBF24"/>
                </a:solidFill>
                <a:latin typeface="Inter"/>
                <a:ea typeface="Inter"/>
                <a:cs typeface="Inter"/>
              </a:rPr>
              <a:t>M4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26517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正式上線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1546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spc="200">
                <a:solidFill>
                  <a:srgbClr val="7B86A8"/>
                </a:solidFill>
                <a:latin typeface="Inter"/>
                <a:ea typeface="Inter"/>
                <a:cs typeface="Inter"/>
              </a:rPr>
              <a:t>2026 · 8 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45262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公開上架雙平台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5486400" cy="5486400"/>
          </a:xfrm>
          <a:gradFill flip="none" rotWithShape="1">
            <a:gsLst>
              <a:gs pos="0">
                <a:srgbClr val="7C3AED">
                  <a:alpha val="35000"/>
                </a:srgbClr>
              </a:gs>
              <a:gs pos="100000">
                <a:srgbClr val="7C3AED">
                  <a:alpha val="0"/>
                </a:srgbClr>
              </a:gs>
            </a:gsLst>
            <a:lin ang="81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4114800"/>
            <a:ext cx="5943600" cy="5943600"/>
          </a:xfrm>
          <a:gradFill flip="none" rotWithShape="1">
            <a:gsLst>
              <a:gs pos="0">
                <a:srgbClr val="00D4FF">
                  <a:alpha val="30000"/>
                </a:srgbClr>
              </a:gs>
              <a:gs pos="100000">
                <a:srgbClr val="00D4FF">
                  <a:alpha val="0"/>
                </a:srgbClr>
              </a:gs>
            </a:gsLst>
            <a:lin ang="189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18288"/>
          </a:xfrm>
          <a:gradFill flip="none" rotWithShape="1">
            <a:gsLst>
              <a:gs pos="0">
                <a:srgbClr val="00D4FF">
                  <a:alpha val="0"/>
                </a:srgbClr>
              </a:gs>
              <a:gs pos="50000">
                <a:srgbClr val="00D4FF">
                  <a:alpha val="60000"/>
                </a:srgbClr>
              </a:gs>
              <a:gs pos="100000">
                <a:srgbClr val="7C3AED">
                  <a:alpha val="0"/>
                </a:srgbClr>
              </a:gs>
            </a:gsLst>
            <a:lin ang="0" scaled="0"/>
            <a:tileRect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B86A8"/>
                </a:solidFill>
                <a:latin typeface="Inter"/>
                <a:ea typeface="Inter"/>
                <a:cs typeface="Inter"/>
              </a:rPr>
              <a:t>08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300">
                <a:solidFill>
                  <a:srgbClr val="7B86A8"/>
                </a:solidFill>
                <a:latin typeface="Inter"/>
                <a:ea typeface="Inter"/>
                <a:cs typeface="Inter"/>
              </a:rPr>
              <a:t>SHAREBOX · 專案簡報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400">
                <a:solidFill>
                  <a:srgbClr val="FBBF24"/>
                </a:solidFill>
                <a:latin typeface="Inter"/>
                <a:ea typeface="Inter"/>
                <a:cs typeface="Inter"/>
              </a:rPr>
              <a:t>07 · 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專案預算概覽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500">
                <a:solidFill>
                  <a:srgbClr val="FBBF24"/>
                </a:solidFill>
                <a:latin typeface="Inter"/>
                <a:ea typeface="Inter"/>
                <a:cs typeface="Inter"/>
              </a:rPr>
              <a:t>TOTAL 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97480"/>
            <a:ext cx="5852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0" b="1">
                <a:latin typeface="PingFang TC"/>
                <a:ea typeface="PingFang TC"/>
                <a:cs typeface="PingFang TC"/>
                <a:gradFill>
                  <a:gsLst>
                    <a:gs pos="0">
                      <a:srgbClr val="FBBF24"/>
                    </a:gs>
                    <a:gs pos="100000">
                      <a:srgbClr val="FF6B9D"/>
                    </a:gs>
                  </a:gsLst>
                  <a:lin ang="900000" scaled="0"/>
                </a:gradFill>
              </a:rPr>
              <a:t>NT$ 4.8M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新台幣 480 萬元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20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涵蓋人事、雲端、行銷與雜支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人事費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28600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Inter"/>
                <a:ea typeface="Inter"/>
                <a:cs typeface="Inter"/>
              </a:rPr>
              <a:t>NT$ 320 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228600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7B86A8"/>
                </a:solidFill>
                <a:latin typeface="Inter"/>
                <a:ea typeface="Inter"/>
                <a:cs typeface="Inter"/>
              </a:rPr>
              <a:t>66.7%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743200"/>
            <a:ext cx="4937760" cy="164592"/>
          </a:xfrm>
          <a:prstGeom prst="roundRect">
            <a:avLst>
              <a:gd name="adj" fmla="val 50000"/>
            </a:avLst>
          </a:prstGeom>
          <a:solidFill>
            <a:srgbClr val="141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0" y="2743200"/>
            <a:ext cx="3293485" cy="164592"/>
          </a:xfrm>
          <a:gradFill flip="none" rotWithShape="1">
            <a:gsLst>
              <a:gs pos="0">
                <a:srgbClr val="00D4FF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0" scaled="0"/>
            <a:tileRect/>
          </a:gradFill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2461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行銷推廣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24612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Inter"/>
                <a:ea typeface="Inter"/>
                <a:cs typeface="Inter"/>
              </a:rPr>
              <a:t>NT$ 80 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324612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7B86A8"/>
                </a:solidFill>
                <a:latin typeface="Inter"/>
                <a:ea typeface="Inter"/>
                <a:cs typeface="Inter"/>
              </a:rPr>
              <a:t>16.7%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703320"/>
            <a:ext cx="4937760" cy="164592"/>
          </a:xfrm>
          <a:prstGeom prst="roundRect">
            <a:avLst>
              <a:gd name="adj" fmla="val 50000"/>
            </a:avLst>
          </a:prstGeom>
          <a:solidFill>
            <a:srgbClr val="141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0" y="3703320"/>
            <a:ext cx="824605" cy="164592"/>
          </a:xfrm>
          <a:gradFill flip="none" rotWithShape="1">
            <a:gsLst>
              <a:gs pos="0">
                <a:srgbClr val="7C3AED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0" scaled="0"/>
            <a:tileRect/>
          </a:gradFill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2062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雲端與基礎設施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420624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6B9D"/>
                </a:solidFill>
                <a:latin typeface="Inter"/>
                <a:ea typeface="Inter"/>
                <a:cs typeface="Inter"/>
              </a:rPr>
              <a:t>NT$ 40 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420624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7B86A8"/>
                </a:solidFill>
                <a:latin typeface="Inter"/>
                <a:ea typeface="Inter"/>
                <a:cs typeface="Inter"/>
              </a:rPr>
              <a:t>8.3%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4663440"/>
            <a:ext cx="4937760" cy="164592"/>
          </a:xfrm>
          <a:prstGeom prst="roundRect">
            <a:avLst>
              <a:gd name="adj" fmla="val 50000"/>
            </a:avLst>
          </a:prstGeom>
          <a:solidFill>
            <a:srgbClr val="141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0" y="4663440"/>
            <a:ext cx="409834" cy="164592"/>
          </a:xfrm>
          <a:gradFill flip="none" rotWithShape="1">
            <a:gsLst>
              <a:gs pos="0">
                <a:srgbClr val="FF6B9D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0" scaled="0"/>
            <a:tileRect/>
          </a:gradFill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516636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其他與雜支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516636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3E635"/>
                </a:solidFill>
                <a:latin typeface="Inter"/>
                <a:ea typeface="Inter"/>
                <a:cs typeface="Inter"/>
              </a:rPr>
              <a:t>NT$ 40 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516636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7B86A8"/>
                </a:solidFill>
                <a:latin typeface="Inter"/>
                <a:ea typeface="Inter"/>
                <a:cs typeface="Inter"/>
              </a:rPr>
              <a:t>8.3%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5623560"/>
            <a:ext cx="4937760" cy="164592"/>
          </a:xfrm>
          <a:prstGeom prst="roundRect">
            <a:avLst>
              <a:gd name="adj" fmla="val 50000"/>
            </a:avLst>
          </a:prstGeom>
          <a:solidFill>
            <a:srgbClr val="141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83680" y="5623560"/>
            <a:ext cx="409834" cy="164592"/>
          </a:xfrm>
          <a:gradFill flip="none" rotWithShape="1">
            <a:gsLst>
              <a:gs pos="0">
                <a:srgbClr val="A3E63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0" scaled="0"/>
            <a:tileRect/>
          </a:gradFill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5486400" cy="5486400"/>
          </a:xfrm>
          <a:gradFill flip="none" rotWithShape="1">
            <a:gsLst>
              <a:gs pos="0">
                <a:srgbClr val="7C3AED">
                  <a:alpha val="35000"/>
                </a:srgbClr>
              </a:gs>
              <a:gs pos="100000">
                <a:srgbClr val="7C3AED">
                  <a:alpha val="0"/>
                </a:srgbClr>
              </a:gs>
            </a:gsLst>
            <a:lin ang="81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4114800"/>
            <a:ext cx="5943600" cy="5943600"/>
          </a:xfrm>
          <a:gradFill flip="none" rotWithShape="1">
            <a:gsLst>
              <a:gs pos="0">
                <a:srgbClr val="00D4FF">
                  <a:alpha val="30000"/>
                </a:srgbClr>
              </a:gs>
              <a:gs pos="100000">
                <a:srgbClr val="00D4FF">
                  <a:alpha val="0"/>
                </a:srgbClr>
              </a:gs>
            </a:gsLst>
            <a:lin ang="189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18288"/>
          </a:xfrm>
          <a:gradFill flip="none" rotWithShape="1">
            <a:gsLst>
              <a:gs pos="0">
                <a:srgbClr val="00D4FF">
                  <a:alpha val="0"/>
                </a:srgbClr>
              </a:gs>
              <a:gs pos="50000">
                <a:srgbClr val="00D4FF">
                  <a:alpha val="60000"/>
                </a:srgbClr>
              </a:gs>
              <a:gs pos="100000">
                <a:srgbClr val="7C3AED">
                  <a:alpha val="0"/>
                </a:srgbClr>
              </a:gs>
            </a:gsLst>
            <a:lin ang="0" scaled="0"/>
            <a:tileRect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B86A8"/>
                </a:solidFill>
                <a:latin typeface="Inter"/>
                <a:ea typeface="Inter"/>
                <a:cs typeface="Inter"/>
              </a:rPr>
              <a:t>09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300">
                <a:solidFill>
                  <a:srgbClr val="7B86A8"/>
                </a:solidFill>
                <a:latin typeface="Inter"/>
                <a:ea typeface="Inter"/>
                <a:cs typeface="Inter"/>
              </a:rPr>
              <a:t>SHAREBOX · 專案簡報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400">
                <a:solidFill>
                  <a:srgbClr val="A3E635"/>
                </a:solidFill>
                <a:latin typeface="Inter"/>
                <a:ea typeface="Inter"/>
                <a:cs typeface="Inter"/>
              </a:rPr>
              <a:t>08 · YEAR 1 KPI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首年目標 KPI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上線一年內必須達成的關鍵指標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31720"/>
            <a:ext cx="2743200" cy="3931920"/>
          </a:xfrm>
          <a:gradFill flip="none" rotWithShape="1">
            <a:gsLst>
              <a:gs pos="0">
                <a:srgbClr val="1C224D">
                  <a:alpha val="100000"/>
                </a:srgbClr>
              </a:gs>
              <a:gs pos="100000">
                <a:srgbClr val="14193D">
                  <a:alpha val="100000"/>
                </a:srgbClr>
              </a:gs>
            </a:gsLst>
            <a:lin ang="8100000" scaled="0"/>
            <a:tileRect/>
          </a:gradFill>
          <a:prstGeom prst="roundRect">
            <a:avLst>
              <a:gd name="adj" fmla="val 8000"/>
            </a:avLst>
          </a:prstGeom>
          <a:ln w="9525">
            <a:solidFill>
              <a:srgbClr val="2A325C"/>
            </a:solidFill>
          </a:ln>
          <a:effectLst>
            <a:outerShdw blurRad="304800" dist="1016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2651760"/>
            <a:ext cx="548640" cy="54864"/>
          </a:xfrm>
          <a:gradFill flip="none" rotWithShape="1">
            <a:gsLst>
              <a:gs pos="0">
                <a:srgbClr val="00D4FF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0" scaled="0"/>
            <a:tileRect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5468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800" b="1">
                <a:latin typeface="PingFang TC"/>
                <a:ea typeface="PingFang TC"/>
                <a:cs typeface="PingFang TC"/>
                <a:gradFill>
                  <a:gsLst>
                    <a:gs pos="0">
                      <a:srgbClr val="00D4FF"/>
                    </a:gs>
                    <a:gs pos="100000">
                      <a:srgbClr val="B19CFF"/>
                    </a:gs>
                  </a:gsLst>
                  <a:lin ang="900000" scaled="0"/>
                </a:gradFill>
              </a:rPr>
              <a:t>10K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663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累積下載數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577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200">
                <a:solidFill>
                  <a:srgbClr val="7B86A8"/>
                </a:solidFill>
                <a:latin typeface="Inter"/>
                <a:ea typeface="Inter"/>
                <a:cs typeface="Inter"/>
              </a:rPr>
              <a:t>Total Downloads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6517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spc="300">
                <a:solidFill>
                  <a:srgbClr val="4F5A7A"/>
                </a:solidFill>
                <a:latin typeface="Inter"/>
                <a:ea typeface="Inter"/>
                <a:cs typeface="Inter"/>
              </a:rPr>
              <a:t>K1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1568" y="2331720"/>
            <a:ext cx="2743200" cy="3931920"/>
          </a:xfrm>
          <a:gradFill flip="none" rotWithShape="1">
            <a:gsLst>
              <a:gs pos="0">
                <a:srgbClr val="1C224D">
                  <a:alpha val="100000"/>
                </a:srgbClr>
              </a:gs>
              <a:gs pos="100000">
                <a:srgbClr val="14193D">
                  <a:alpha val="100000"/>
                </a:srgbClr>
              </a:gs>
            </a:gsLst>
            <a:lin ang="8100000" scaled="0"/>
            <a:tileRect/>
          </a:gradFill>
          <a:prstGeom prst="roundRect">
            <a:avLst>
              <a:gd name="adj" fmla="val 8000"/>
            </a:avLst>
          </a:prstGeom>
          <a:ln w="9525">
            <a:solidFill>
              <a:srgbClr val="2A325C"/>
            </a:solidFill>
          </a:ln>
          <a:effectLst>
            <a:outerShdw blurRad="304800" dist="1016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58768" y="2651760"/>
            <a:ext cx="548640" cy="54864"/>
          </a:xfrm>
          <a:gradFill flip="none" rotWithShape="1">
            <a:gsLst>
              <a:gs pos="0">
                <a:srgbClr val="7C3AED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0" scaled="0"/>
            <a:tileRect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5888" y="315468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800" b="1">
                <a:latin typeface="PingFang TC"/>
                <a:ea typeface="PingFang TC"/>
                <a:cs typeface="PingFang TC"/>
                <a:gradFill>
                  <a:gsLst>
                    <a:gs pos="0">
                      <a:srgbClr val="7C3AED"/>
                    </a:gs>
                    <a:gs pos="100000">
                      <a:srgbClr val="B19CFF"/>
                    </a:gs>
                  </a:gsLst>
                  <a:lin ang="900000" scaled="0"/>
                </a:gradFill>
              </a:rPr>
              <a:t>3K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51663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月活躍用戶 MAU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8768" y="5577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200">
                <a:solidFill>
                  <a:srgbClr val="7B86A8"/>
                </a:solidFill>
                <a:latin typeface="Inter"/>
                <a:ea typeface="Inter"/>
                <a:cs typeface="Inter"/>
              </a:rPr>
              <a:t>Monthly Active 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8" y="26517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spc="300">
                <a:solidFill>
                  <a:srgbClr val="4F5A7A"/>
                </a:solidFill>
                <a:latin typeface="Inter"/>
                <a:ea typeface="Inter"/>
                <a:cs typeface="Inter"/>
              </a:rPr>
              <a:t>K2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4496" y="2331720"/>
            <a:ext cx="2743200" cy="3931920"/>
          </a:xfrm>
          <a:gradFill flip="none" rotWithShape="1">
            <a:gsLst>
              <a:gs pos="0">
                <a:srgbClr val="1C224D">
                  <a:alpha val="100000"/>
                </a:srgbClr>
              </a:gs>
              <a:gs pos="100000">
                <a:srgbClr val="14193D">
                  <a:alpha val="100000"/>
                </a:srgbClr>
              </a:gs>
            </a:gsLst>
            <a:lin ang="8100000" scaled="0"/>
            <a:tileRect/>
          </a:gradFill>
          <a:prstGeom prst="roundRect">
            <a:avLst>
              <a:gd name="adj" fmla="val 8000"/>
            </a:avLst>
          </a:prstGeom>
          <a:ln w="9525">
            <a:solidFill>
              <a:srgbClr val="2A325C"/>
            </a:solidFill>
          </a:ln>
          <a:effectLst>
            <a:outerShdw blurRad="304800" dist="1016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11696" y="2651760"/>
            <a:ext cx="548640" cy="54864"/>
          </a:xfrm>
          <a:gradFill flip="none" rotWithShape="1">
            <a:gsLst>
              <a:gs pos="0">
                <a:srgbClr val="FF6B9D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0" scaled="0"/>
            <a:tileRect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315468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800" b="1">
                <a:latin typeface="PingFang TC"/>
                <a:ea typeface="PingFang TC"/>
                <a:cs typeface="PingFang TC"/>
                <a:gradFill>
                  <a:gsLst>
                    <a:gs pos="0">
                      <a:srgbClr val="FF6B9D"/>
                    </a:gs>
                    <a:gs pos="100000">
                      <a:srgbClr val="B19CFF"/>
                    </a:gs>
                  </a:gsLst>
                  <a:lin ang="900000" scaled="0"/>
                </a:gradFill>
              </a:rPr>
              <a:t>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1696" y="51663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每月成功借用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1696" y="5577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200">
                <a:solidFill>
                  <a:srgbClr val="7B86A8"/>
                </a:solidFill>
                <a:latin typeface="Inter"/>
                <a:ea typeface="Inter"/>
                <a:cs typeface="Inter"/>
              </a:rPr>
              <a:t>Successful Borrowings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26517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spc="300">
                <a:solidFill>
                  <a:srgbClr val="4F5A7A"/>
                </a:solidFill>
                <a:latin typeface="Inter"/>
                <a:ea typeface="Inter"/>
                <a:cs typeface="Inter"/>
              </a:rPr>
              <a:t>K3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07424" y="2331720"/>
            <a:ext cx="2743200" cy="3931920"/>
          </a:xfrm>
          <a:gradFill flip="none" rotWithShape="1">
            <a:gsLst>
              <a:gs pos="0">
                <a:srgbClr val="1C224D">
                  <a:alpha val="100000"/>
                </a:srgbClr>
              </a:gs>
              <a:gs pos="100000">
                <a:srgbClr val="14193D">
                  <a:alpha val="100000"/>
                </a:srgbClr>
              </a:gs>
            </a:gsLst>
            <a:lin ang="8100000" scaled="0"/>
            <a:tileRect/>
          </a:gradFill>
          <a:prstGeom prst="roundRect">
            <a:avLst>
              <a:gd name="adj" fmla="val 8000"/>
            </a:avLst>
          </a:prstGeom>
          <a:ln w="9525">
            <a:solidFill>
              <a:srgbClr val="2A325C"/>
            </a:solidFill>
          </a:ln>
          <a:effectLst>
            <a:outerShdw blurRad="304800" dist="1016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4624" y="2651760"/>
            <a:ext cx="548640" cy="54864"/>
          </a:xfrm>
          <a:gradFill flip="none" rotWithShape="1">
            <a:gsLst>
              <a:gs pos="0">
                <a:srgbClr val="A3E63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0" scaled="0"/>
            <a:tileRect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81744" y="315468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800" b="1">
                <a:latin typeface="PingFang TC"/>
                <a:ea typeface="PingFang TC"/>
                <a:cs typeface="PingFang TC"/>
                <a:gradFill>
                  <a:gsLst>
                    <a:gs pos="0">
                      <a:srgbClr val="A3E635"/>
                    </a:gs>
                    <a:gs pos="100000">
                      <a:srgbClr val="B19CFF"/>
                    </a:gs>
                  </a:gsLst>
                  <a:lin ang="900000" scaled="0"/>
                </a:gradFill>
              </a:rPr>
              <a:t>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64624" y="51663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Premium 轉換率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64624" y="5577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200">
                <a:solidFill>
                  <a:srgbClr val="7B86A8"/>
                </a:solidFill>
                <a:latin typeface="Inter"/>
                <a:ea typeface="Inter"/>
                <a:cs typeface="Inter"/>
              </a:rPr>
              <a:t>Paid Conversion 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27664" y="26517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spc="300">
                <a:solidFill>
                  <a:srgbClr val="4F5A7A"/>
                </a:solidFill>
                <a:latin typeface="Inter"/>
                <a:ea typeface="Inter"/>
                <a:cs typeface="Inter"/>
              </a:rPr>
              <a:t>K4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5486400" cy="5486400"/>
          </a:xfrm>
          <a:gradFill flip="none" rotWithShape="1">
            <a:gsLst>
              <a:gs pos="0">
                <a:srgbClr val="7C3AED">
                  <a:alpha val="35000"/>
                </a:srgbClr>
              </a:gs>
              <a:gs pos="100000">
                <a:srgbClr val="7C3AED">
                  <a:alpha val="0"/>
                </a:srgbClr>
              </a:gs>
            </a:gsLst>
            <a:lin ang="81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4114800"/>
            <a:ext cx="5943600" cy="5943600"/>
          </a:xfrm>
          <a:gradFill flip="none" rotWithShape="1">
            <a:gsLst>
              <a:gs pos="0">
                <a:srgbClr val="00D4FF">
                  <a:alpha val="30000"/>
                </a:srgbClr>
              </a:gs>
              <a:gs pos="100000">
                <a:srgbClr val="00D4FF">
                  <a:alpha val="0"/>
                </a:srgbClr>
              </a:gs>
            </a:gsLst>
            <a:lin ang="189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18288"/>
          </a:xfrm>
          <a:gradFill flip="none" rotWithShape="1">
            <a:gsLst>
              <a:gs pos="0">
                <a:srgbClr val="00D4FF">
                  <a:alpha val="0"/>
                </a:srgbClr>
              </a:gs>
              <a:gs pos="50000">
                <a:srgbClr val="00D4FF">
                  <a:alpha val="60000"/>
                </a:srgbClr>
              </a:gs>
              <a:gs pos="100000">
                <a:srgbClr val="7C3AED">
                  <a:alpha val="0"/>
                </a:srgbClr>
              </a:gs>
            </a:gsLst>
            <a:lin ang="0" scaled="0"/>
            <a:tileRect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743200" y="2743200"/>
            <a:ext cx="7315200" cy="7315200"/>
          </a:xfrm>
          <a:gradFill flip="none" rotWithShape="1">
            <a:gsLst>
              <a:gs pos="0">
                <a:srgbClr val="00D4FF">
                  <a:alpha val="30000"/>
                </a:srgbClr>
              </a:gs>
              <a:gs pos="100000">
                <a:srgbClr val="00D4FF">
                  <a:alpha val="0"/>
                </a:srgbClr>
              </a:gs>
            </a:gsLst>
            <a:lin ang="27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0" y="-2743200"/>
            <a:ext cx="7315200" cy="7315200"/>
          </a:xfrm>
          <a:gradFill flip="none" rotWithShape="1">
            <a:gsLst>
              <a:gs pos="0">
                <a:srgbClr val="FF6B9D">
                  <a:alpha val="30000"/>
                </a:srgbClr>
              </a:gs>
              <a:gs pos="100000">
                <a:srgbClr val="FF6B9D">
                  <a:alpha val="0"/>
                </a:srgbClr>
              </a:gs>
            </a:gsLst>
            <a:lin ang="8100000" scaled="0"/>
            <a:tileRect/>
          </a:gradFill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7373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spc="500">
                <a:solidFill>
                  <a:srgbClr val="00D4FF"/>
                </a:solidFill>
                <a:latin typeface="Inter"/>
                <a:ea typeface="Inter"/>
                <a:cs typeface="Inter"/>
              </a:rPr>
              <a:t>FINAL THOUGHTS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2194560"/>
            <a:ext cx="121916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0" b="1">
                <a:latin typeface="PingFang TC"/>
                <a:ea typeface="PingFang TC"/>
                <a:cs typeface="PingFang TC"/>
                <a:gradFill>
                  <a:gsLst>
                    <a:gs pos="0">
                      <a:srgbClr val="00D4FF"/>
                    </a:gs>
                    <a:gs pos="50000">
                      <a:srgbClr val="B19CFF"/>
                    </a:gs>
                    <a:gs pos="100000">
                      <a:srgbClr val="FF6B9D"/>
                    </a:gs>
                  </a:gsLst>
                  <a:lin ang="900000" scaled="0"/>
                </a:gradFill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48056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ShareBox 期望成為台灣社區鄰里最被信任的工具共享平台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07492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B8C5D6"/>
                </a:solidFill>
                <a:latin typeface="PingFang TC"/>
                <a:ea typeface="PingFang TC"/>
                <a:cs typeface="PingFang TC"/>
              </a:rPr>
              <a:t>讓閒置工具流動起來，減少浪費、連結鄰里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41848" y="5760720"/>
            <a:ext cx="914400" cy="36576"/>
          </a:xfrm>
          <a:gradFill flip="none" rotWithShape="1">
            <a:gsLst>
              <a:gs pos="0">
                <a:srgbClr val="00D4FF">
                  <a:alpha val="100000"/>
                </a:srgbClr>
              </a:gs>
              <a:gs pos="100000">
                <a:srgbClr val="FF6B9D">
                  <a:alpha val="100000"/>
                </a:srgbClr>
              </a:gs>
            </a:gsLst>
            <a:lin ang="0" scaled="0"/>
            <a:tileRect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spc="600">
                <a:solidFill>
                  <a:srgbClr val="7B86A8"/>
                </a:solidFill>
                <a:latin typeface="Inter"/>
                <a:ea typeface="Inter"/>
                <a:cs typeface="Inter"/>
              </a:rPr>
              <a:t>SHAREBOX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